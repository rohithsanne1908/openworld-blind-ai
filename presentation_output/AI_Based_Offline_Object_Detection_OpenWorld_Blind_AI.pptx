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AF7"/>
          </a:solidFill>
          <a:ln w="12700">
            <a:solidFill>
              <a:srgbClr val="F4FA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749040" cy="6858000"/>
          </a:xfrm>
          <a:prstGeom prst="rect">
            <a:avLst/>
          </a:prstGeom>
          <a:solidFill>
            <a:srgbClr val="006B5A"/>
          </a:solidFill>
          <a:ln w="12700">
            <a:solidFill>
              <a:srgbClr val="006B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0" y="-731520"/>
            <a:ext cx="5120640" cy="8138160"/>
          </a:xfrm>
          <a:prstGeom prst="arc">
            <a:avLst/>
          </a:prstGeom>
          <a:noFill/>
          <a:ln w="31750">
            <a:solidFill>
              <a:srgbClr val="2FAD5A">
                <a:alpha val="8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858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OpenWorld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Blind AI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297680" y="960120"/>
            <a:ext cx="6949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02A2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AI-based offline object detection system for visually impaired people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343400" y="2578608"/>
            <a:ext cx="6492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1736C"/>
                </a:solidFill>
              </a:rPr>
              <a:t>Real-time camera vision, object detection, distance-aware alerts, and Android text-to-speech without internet dependency.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0" y="2880360"/>
            <a:ext cx="1965960" cy="3566160"/>
          </a:xfrm>
          <a:prstGeom prst="roundRect">
            <a:avLst>
              <a:gd name="adj" fmla="val 9302"/>
            </a:avLst>
          </a:prstGeom>
          <a:solidFill>
            <a:srgbClr val="121915"/>
          </a:solidFill>
          <a:ln w="12700">
            <a:solidFill>
              <a:srgbClr val="10101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39328" y="3044952"/>
            <a:ext cx="1746504" cy="3236976"/>
          </a:xfrm>
          <a:prstGeom prst="roundRect">
            <a:avLst>
              <a:gd name="adj" fmla="val 8377"/>
            </a:avLst>
          </a:prstGeom>
          <a:solidFill>
            <a:srgbClr val="ECF7F2"/>
          </a:solidFill>
          <a:ln w="12700">
            <a:solidFill>
              <a:srgbClr val="ECF7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49640" y="3392424"/>
            <a:ext cx="1325880" cy="676656"/>
          </a:xfrm>
          <a:prstGeom prst="roundRect">
            <a:avLst>
              <a:gd name="adj" fmla="val 10811"/>
            </a:avLst>
          </a:prstGeom>
          <a:solidFill>
            <a:srgbClr val="EF3F36"/>
          </a:solidFill>
          <a:ln w="12700">
            <a:solidFill>
              <a:srgbClr val="EF3F3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49640" y="360273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STOP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549640" y="429768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FAD5A"/>
                </a:solidFill>
              </a:rPr>
              <a:t>Detecting 2 objects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549640" y="4636008"/>
            <a:ext cx="1325880" cy="2057400"/>
          </a:xfrm>
          <a:prstGeom prst="roundRect">
            <a:avLst>
              <a:gd name="adj" fmla="val 5517"/>
            </a:avLst>
          </a:prstGeom>
          <a:solidFill>
            <a:srgbClr val="DCE8E0"/>
          </a:solidFill>
          <a:ln w="12700">
            <a:solidFill>
              <a:srgbClr val="DCE8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24544" y="4937760"/>
            <a:ext cx="1051560" cy="1298448"/>
          </a:xfrm>
          <a:prstGeom prst="rect">
            <a:avLst/>
          </a:prstGeom>
          <a:solidFill>
            <a:srgbClr val="DCE8E0">
              <a:alpha val="0"/>
            </a:srgbClr>
          </a:solidFill>
          <a:ln w="25400">
            <a:solidFill>
              <a:srgbClr val="69E7A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51392" y="4754880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EF3F36"/>
          </a:solidFill>
          <a:ln w="12700">
            <a:solidFill>
              <a:srgbClr val="EF3F3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0" y="4828032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person 78% center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0222992" y="5394960"/>
            <a:ext cx="594360" cy="777240"/>
          </a:xfrm>
          <a:prstGeom prst="rect">
            <a:avLst/>
          </a:prstGeom>
          <a:solidFill>
            <a:srgbClr val="DCE8E0">
              <a:alpha val="0"/>
            </a:srgbClr>
          </a:solidFill>
          <a:ln w="25400">
            <a:solidFill>
              <a:srgbClr val="69E7A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104120" y="5212080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2FAD5A"/>
          </a:solidFill>
          <a:ln w="12700">
            <a:solidFill>
              <a:srgbClr val="2FAD5A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13848" y="5285232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bottle 72%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0080" y="513892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E9D3"/>
                </a:solidFill>
              </a:rPr>
              <a:t>Presented by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" y="54406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N.Sharath Kumar - 23261A6634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Sanne Rohith - 23261A6645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2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Problem Statement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1736C"/>
                </a:solidFill>
              </a:rPr>
              <a:t>Independent movement becomes harder when surroundings cannot be quickly identified.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1508760"/>
            <a:ext cx="5852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A2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People with visual impairment often depend on touch, sound, memory, or another person to understand nearby objects and obstacles.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13232" y="2880360"/>
            <a:ext cx="55778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02A24"/>
                </a:solidFill>
              </a:rPr>
              <a:t>- Many assistive apps require internet or cloud AI services.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02A24"/>
                </a:solidFill>
              </a:rPr>
              <a:t>- Delayed feedback can reduce safety in navigation.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02A24"/>
                </a:solidFill>
              </a:rPr>
              <a:t>- Users need simple voice output, not complex visual interfaces.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02A24"/>
                </a:solidFill>
              </a:rPr>
              <a:t>- The system must work on normal mobile phones.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0" y="1417320"/>
            <a:ext cx="32918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BFD8CF"/>
            </a:solidFill>
            <a:prstDash val="solid"/>
          </a:ln>
          <a:effectLst>
            <a:outerShdw sx="100000" sy="100000" kx="0" ky="0" algn="bl" rotWithShape="0" blurRad="25400" dist="50800" dir="2700000">
              <a:srgbClr val="B6C9C1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79792" y="1581912"/>
            <a:ext cx="2962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F3F3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Need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498080" y="2130552"/>
            <a:ext cx="296265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36C"/>
                </a:solidFill>
              </a:rPr>
              <a:t>Target impact: faster awareness of nearby objects through offline voice alerts.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315200" y="2926080"/>
            <a:ext cx="32918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BFD8CF"/>
            </a:solidFill>
            <a:prstDash val="solid"/>
          </a:ln>
          <a:effectLst>
            <a:outerShdw sx="100000" sy="100000" kx="0" ky="0" algn="bl" rotWithShape="0" blurRad="25400" dist="50800" dir="2700000">
              <a:srgbClr val="B6C9C1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79792" y="3090672"/>
            <a:ext cx="2962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6B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Vision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498080" y="3639312"/>
            <a:ext cx="296265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36C"/>
                </a:solidFill>
              </a:rPr>
              <a:t>Camera-based detection helps identify common objects in daily environments.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0" y="4434840"/>
            <a:ext cx="32918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BFD8CF"/>
            </a:solidFill>
            <a:prstDash val="solid"/>
          </a:ln>
          <a:effectLst>
            <a:outerShdw sx="100000" sy="100000" kx="0" ky="0" algn="bl" rotWithShape="0" blurRad="25400" dist="50800" dir="2700000">
              <a:srgbClr val="B6C9C1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479792" y="4599432"/>
            <a:ext cx="2962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AD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Access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498080" y="5148072"/>
            <a:ext cx="296265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36C"/>
                </a:solidFill>
              </a:rPr>
              <a:t>The design prioritizes large controls and clear status for accessibility.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64739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OpenWorld Blind AI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6B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2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Project Objectives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1736C"/>
                </a:solidFill>
              </a:rPr>
              <a:t>Convert camera input into useful spoken awareness.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489204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BFD8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" y="1636776"/>
            <a:ext cx="329184" cy="329184"/>
          </a:xfrm>
          <a:prstGeom prst="ellipse">
            <a:avLst/>
          </a:prstGeom>
          <a:solidFill>
            <a:srgbClr val="2FAD5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5880" y="157276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2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Offline detection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1856232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36C"/>
                </a:solidFill>
              </a:rPr>
              <a:t>Run object recognition on-device using a bundled YOLO ONNX model.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63640" y="1417320"/>
            <a:ext cx="489204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BFD8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28232" y="1636776"/>
            <a:ext cx="329184" cy="329184"/>
          </a:xfrm>
          <a:prstGeom prst="ellipse">
            <a:avLst/>
          </a:prstGeom>
          <a:solidFill>
            <a:srgbClr val="006B5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03720" y="157276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2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Voice guidance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903720" y="1856232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36C"/>
                </a:solidFill>
              </a:rPr>
              <a:t>Speak object name, approximate position, and distance using Android TTS.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5800" y="2990088"/>
            <a:ext cx="489204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BFD8C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" y="3209544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25880" y="314553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2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Accessible UI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25880" y="342900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36C"/>
                </a:solidFill>
              </a:rPr>
              <a:t>Large start/stop control, readable status, and minimal settings complexity.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63640" y="2990088"/>
            <a:ext cx="489204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BFD8C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28232" y="3209544"/>
            <a:ext cx="329184" cy="329184"/>
          </a:xfrm>
          <a:prstGeom prst="ellipse">
            <a:avLst/>
          </a:prstGeom>
          <a:solidFill>
            <a:srgbClr val="2FAD5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03720" y="314553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2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Real-time loop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903720" y="342900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36C"/>
                </a:solidFill>
              </a:rPr>
              <a:t>Process camera frames continuously while avoiding heavy lag.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5800" y="4562856"/>
            <a:ext cx="489204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BFD8C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0392" y="4782312"/>
            <a:ext cx="329184" cy="329184"/>
          </a:xfrm>
          <a:prstGeom prst="ellipse">
            <a:avLst/>
          </a:prstGeom>
          <a:solidFill>
            <a:srgbClr val="006B5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25880" y="471830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2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Safety focus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25880" y="5001768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36C"/>
                </a:solidFill>
              </a:rPr>
              <a:t>Highlight critical objects such as person, vehicle, or close obstacle.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63640" y="4562856"/>
            <a:ext cx="489204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BFD8C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28232" y="4782312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03720" y="471830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2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Portable app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903720" y="5001768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36C"/>
                </a:solidFill>
              </a:rPr>
              <a:t>Build with Flutter for Android and future iOS support.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" y="64739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OpenWorld Blind AI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6B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2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Proposed Solution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1736C"/>
                </a:solidFill>
              </a:rPr>
              <a:t>A mobile assistive vision system that works without internet.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49808" y="1417320"/>
            <a:ext cx="1078992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BFD8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1965960"/>
            <a:ext cx="1600200" cy="658368"/>
          </a:xfrm>
          <a:prstGeom prst="roundRect">
            <a:avLst>
              <a:gd name="adj" fmla="val 11111"/>
            </a:avLst>
          </a:prstGeom>
          <a:solidFill>
            <a:srgbClr val="E7F4EF"/>
          </a:solidFill>
          <a:ln w="12700">
            <a:solidFill>
              <a:srgbClr val="006B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61288" y="2084832"/>
            <a:ext cx="1380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6B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Phone camera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005840" y="2788920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1736C"/>
                </a:solidFill>
              </a:rPr>
              <a:t>Live frames from back camera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651760" y="2286000"/>
            <a:ext cx="411480" cy="0"/>
          </a:xfrm>
          <a:prstGeom prst="line">
            <a:avLst/>
          </a:prstGeom>
          <a:noFill/>
          <a:ln w="22860">
            <a:solidFill>
              <a:srgbClr val="2FAD5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154680" y="1965960"/>
            <a:ext cx="1600200" cy="658368"/>
          </a:xfrm>
          <a:prstGeom prst="roundRect">
            <a:avLst>
              <a:gd name="adj" fmla="val 11111"/>
            </a:avLst>
          </a:prstGeom>
          <a:solidFill>
            <a:srgbClr val="E7F4EF"/>
          </a:solidFill>
          <a:ln w="12700">
            <a:solidFill>
              <a:srgbClr val="006B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64408" y="2084832"/>
            <a:ext cx="1380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6B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Frame preprocessing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108960" y="2788920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1736C"/>
                </a:solidFill>
              </a:rPr>
              <a:t>Resize and normalize to 640 x 640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2286000"/>
            <a:ext cx="411480" cy="0"/>
          </a:xfrm>
          <a:prstGeom prst="line">
            <a:avLst/>
          </a:prstGeom>
          <a:noFill/>
          <a:ln w="22860">
            <a:solidFill>
              <a:srgbClr val="2FAD5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257800" y="1965960"/>
            <a:ext cx="1600200" cy="658368"/>
          </a:xfrm>
          <a:prstGeom prst="roundRect">
            <a:avLst>
              <a:gd name="adj" fmla="val 11111"/>
            </a:avLst>
          </a:prstGeom>
          <a:solidFill>
            <a:srgbClr val="FFE6E3"/>
          </a:solidFill>
          <a:ln w="12700">
            <a:solidFill>
              <a:srgbClr val="EF3F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67528" y="2084832"/>
            <a:ext cx="1380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F3F3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YOLOv8 ONNX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212080" y="2788920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1736C"/>
                </a:solidFill>
              </a:rPr>
              <a:t>Local inference on mobile device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58000" y="2286000"/>
            <a:ext cx="411480" cy="0"/>
          </a:xfrm>
          <a:prstGeom prst="line">
            <a:avLst/>
          </a:prstGeom>
          <a:noFill/>
          <a:ln w="22860">
            <a:solidFill>
              <a:srgbClr val="2FAD5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360920" y="1965960"/>
            <a:ext cx="1600200" cy="658368"/>
          </a:xfrm>
          <a:prstGeom prst="roundRect">
            <a:avLst>
              <a:gd name="adj" fmla="val 11111"/>
            </a:avLst>
          </a:prstGeom>
          <a:solidFill>
            <a:srgbClr val="E7F4EF"/>
          </a:solidFill>
          <a:ln w="12700">
            <a:solidFill>
              <a:srgbClr val="006B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70648" y="2084832"/>
            <a:ext cx="1380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6B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Post-processing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315200" y="2788920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1736C"/>
                </a:solidFill>
              </a:rPr>
              <a:t>Confidence filter + NMS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961120" y="2286000"/>
            <a:ext cx="411480" cy="0"/>
          </a:xfrm>
          <a:prstGeom prst="line">
            <a:avLst/>
          </a:prstGeom>
          <a:noFill/>
          <a:ln w="22860">
            <a:solidFill>
              <a:srgbClr val="2FAD5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464040" y="1965960"/>
            <a:ext cx="1600200" cy="658368"/>
          </a:xfrm>
          <a:prstGeom prst="roundRect">
            <a:avLst>
              <a:gd name="adj" fmla="val 11111"/>
            </a:avLst>
          </a:prstGeom>
          <a:solidFill>
            <a:srgbClr val="E7F4EF"/>
          </a:solidFill>
          <a:ln w="12700">
            <a:solidFill>
              <a:srgbClr val="006B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73768" y="2084832"/>
            <a:ext cx="1380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6B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TTS alerts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418320" y="2788920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1736C"/>
                </a:solidFill>
              </a:rPr>
              <a:t>Speak label, position, distance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097280" y="3931920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A2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The user does not need to read the screen. The app converts visual detections into short, repeated voice alerts with cooldown control.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02920" y="64739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OpenWorld Blind AI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6B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2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System Architecture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1736C"/>
                </a:solidFill>
              </a:rPr>
              <a:t>The app is split into UI, camera pipeline, AI inference, and voice feedback modules.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2148840" cy="42062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BFD8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6276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B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Presentation Layer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2240280"/>
            <a:ext cx="1645920" cy="438912"/>
          </a:xfrm>
          <a:prstGeom prst="roundRect">
            <a:avLst>
              <a:gd name="adj" fmla="val 16667"/>
            </a:avLst>
          </a:prstGeom>
          <a:solidFill>
            <a:srgbClr val="E7F4EF"/>
          </a:solidFill>
          <a:ln w="12700">
            <a:solidFill>
              <a:srgbClr val="BFD8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2359152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A2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Main screen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914400" y="3063240"/>
            <a:ext cx="1645920" cy="438912"/>
          </a:xfrm>
          <a:prstGeom prst="roundRect">
            <a:avLst>
              <a:gd name="adj" fmla="val 16667"/>
            </a:avLst>
          </a:prstGeom>
          <a:solidFill>
            <a:srgbClr val="E7F4EF"/>
          </a:solidFill>
          <a:ln w="12700">
            <a:solidFill>
              <a:srgbClr val="BFD8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3182112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A2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Large START/STOP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914400" y="3886200"/>
            <a:ext cx="1645920" cy="438912"/>
          </a:xfrm>
          <a:prstGeom prst="roundRect">
            <a:avLst>
              <a:gd name="adj" fmla="val 16667"/>
            </a:avLst>
          </a:prstGeom>
          <a:solidFill>
            <a:srgbClr val="E7F4EF"/>
          </a:solidFill>
          <a:ln w="12700">
            <a:solidFill>
              <a:srgbClr val="BFD8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4005072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A2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Status + boxes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807208" y="3520440"/>
            <a:ext cx="530352" cy="0"/>
          </a:xfrm>
          <a:prstGeom prst="line">
            <a:avLst/>
          </a:prstGeom>
          <a:noFill/>
          <a:ln w="22860">
            <a:solidFill>
              <a:srgbClr val="006B5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383280" y="1417320"/>
            <a:ext cx="2148840" cy="42062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BFD8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9584" y="16276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B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Input Pipeline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39312" y="2240280"/>
            <a:ext cx="1645920" cy="438912"/>
          </a:xfrm>
          <a:prstGeom prst="roundRect">
            <a:avLst>
              <a:gd name="adj" fmla="val 16667"/>
            </a:avLst>
          </a:prstGeom>
          <a:solidFill>
            <a:srgbClr val="E7F4EF"/>
          </a:solidFill>
          <a:ln w="12700">
            <a:solidFill>
              <a:srgbClr val="BFD8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49040" y="2359152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A2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Camera plugin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39312" y="3063240"/>
            <a:ext cx="1645920" cy="438912"/>
          </a:xfrm>
          <a:prstGeom prst="roundRect">
            <a:avLst>
              <a:gd name="adj" fmla="val 16667"/>
            </a:avLst>
          </a:prstGeom>
          <a:solidFill>
            <a:srgbClr val="E7F4EF"/>
          </a:solidFill>
          <a:ln w="12700">
            <a:solidFill>
              <a:srgbClr val="BFD8C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0" y="3182112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A2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Image stream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39312" y="3886200"/>
            <a:ext cx="1645920" cy="438912"/>
          </a:xfrm>
          <a:prstGeom prst="roundRect">
            <a:avLst>
              <a:gd name="adj" fmla="val 16667"/>
            </a:avLst>
          </a:prstGeom>
          <a:solidFill>
            <a:srgbClr val="E7F4EF"/>
          </a:solidFill>
          <a:ln w="12700">
            <a:solidFill>
              <a:srgbClr val="BFD8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49040" y="4005072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A2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Frame throttling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532120" y="3520440"/>
            <a:ext cx="530352" cy="0"/>
          </a:xfrm>
          <a:prstGeom prst="line">
            <a:avLst/>
          </a:prstGeom>
          <a:noFill/>
          <a:ln w="22860">
            <a:solidFill>
              <a:srgbClr val="006B5A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108192" y="1417320"/>
            <a:ext cx="2148840" cy="4206240"/>
          </a:xfrm>
          <a:prstGeom prst="roundRect">
            <a:avLst>
              <a:gd name="adj" fmla="val 4255"/>
            </a:avLst>
          </a:prstGeom>
          <a:solidFill>
            <a:srgbClr val="FFE6E3"/>
          </a:solidFill>
          <a:ln w="12700">
            <a:solidFill>
              <a:srgbClr val="EF3F3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54496" y="16276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3F3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AI Engine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364224" y="2240280"/>
            <a:ext cx="1645920" cy="438912"/>
          </a:xfrm>
          <a:prstGeom prst="roundRect">
            <a:avLst>
              <a:gd name="adj" fmla="val 16667"/>
            </a:avLst>
          </a:prstGeom>
          <a:solidFill>
            <a:srgbClr val="FFF6F4"/>
          </a:solidFill>
          <a:ln w="12700">
            <a:solidFill>
              <a:srgbClr val="F8B4A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73952" y="2359152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A2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Preprocessor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364224" y="3063240"/>
            <a:ext cx="1645920" cy="438912"/>
          </a:xfrm>
          <a:prstGeom prst="roundRect">
            <a:avLst>
              <a:gd name="adj" fmla="val 16667"/>
            </a:avLst>
          </a:prstGeom>
          <a:solidFill>
            <a:srgbClr val="FFF6F4"/>
          </a:solidFill>
          <a:ln w="12700">
            <a:solidFill>
              <a:srgbClr val="F8B4A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73952" y="3182112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A2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ONNX Runtime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364224" y="3886200"/>
            <a:ext cx="1645920" cy="438912"/>
          </a:xfrm>
          <a:prstGeom prst="roundRect">
            <a:avLst>
              <a:gd name="adj" fmla="val 16667"/>
            </a:avLst>
          </a:prstGeom>
          <a:solidFill>
            <a:srgbClr val="FFF6F4"/>
          </a:solidFill>
          <a:ln w="12700">
            <a:solidFill>
              <a:srgbClr val="F8B4A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73952" y="4005072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A2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YOLO decoder + NMS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257032" y="3520440"/>
            <a:ext cx="521208" cy="0"/>
          </a:xfrm>
          <a:prstGeom prst="line">
            <a:avLst/>
          </a:prstGeom>
          <a:noFill/>
          <a:ln w="22860">
            <a:solidFill>
              <a:srgbClr val="006B5A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8823960" y="1417320"/>
            <a:ext cx="2148840" cy="42062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BFD8C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970264" y="16276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B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Feedback Layer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9079992" y="2240280"/>
            <a:ext cx="1645920" cy="438912"/>
          </a:xfrm>
          <a:prstGeom prst="roundRect">
            <a:avLst>
              <a:gd name="adj" fmla="val 16667"/>
            </a:avLst>
          </a:prstGeom>
          <a:solidFill>
            <a:srgbClr val="E7F4EF"/>
          </a:solidFill>
          <a:ln w="12700">
            <a:solidFill>
              <a:srgbClr val="BFD8C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89720" y="2359152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A2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TTS service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079992" y="3063240"/>
            <a:ext cx="1645920" cy="438912"/>
          </a:xfrm>
          <a:prstGeom prst="roundRect">
            <a:avLst>
              <a:gd name="adj" fmla="val 16667"/>
            </a:avLst>
          </a:prstGeom>
          <a:solidFill>
            <a:srgbClr val="E7F4EF"/>
          </a:solidFill>
          <a:ln w="12700">
            <a:solidFill>
              <a:srgbClr val="BFD8C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89720" y="3182112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A2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Cooldown logic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9079992" y="3886200"/>
            <a:ext cx="1645920" cy="438912"/>
          </a:xfrm>
          <a:prstGeom prst="roundRect">
            <a:avLst>
              <a:gd name="adj" fmla="val 16667"/>
            </a:avLst>
          </a:prstGeom>
          <a:solidFill>
            <a:srgbClr val="E7F4EF"/>
          </a:solidFill>
          <a:ln w="12700">
            <a:solidFill>
              <a:srgbClr val="BFD8C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89720" y="4005072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A2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Distance/position alert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051560" y="589788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1736C"/>
                </a:solidFill>
              </a:rPr>
              <a:t>Data stays on the phone. The model and labels are bundled as app assets, supporting offline use.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02920" y="64739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OpenWorld Blind AI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6B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2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Technology Stack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1736C"/>
                </a:solidFill>
              </a:rPr>
              <a:t>Each technology is selected to support offline mobile inference and accessible feedback.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444752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BFD8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62763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6B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Flutter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96112" y="197510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1736C"/>
                </a:solidFill>
              </a:rPr>
              <a:t>Cross-platform mobile UI and application structure.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566160" y="1444752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BFD8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30752" y="162763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6B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Dart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730752" y="197510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1736C"/>
                </a:solidFill>
              </a:rPr>
              <a:t>App logic, services, model decoding, and state management.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400800" y="1444752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BFD8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5392" y="162763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6B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camera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565392" y="197510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1736C"/>
                </a:solidFill>
              </a:rPr>
              <a:t>Back camera preview and live image stream.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235440" y="1444752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BFD8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00032" y="162763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F3F3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ONNX Runtime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400032" y="197510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1736C"/>
                </a:solidFill>
              </a:rPr>
              <a:t>Runs exported YOLOv8 model on-device.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31520" y="3319272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BFD8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350215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6B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flutter_tts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96112" y="384962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1736C"/>
                </a:solidFill>
              </a:rPr>
              <a:t>Android offline text-to-speech voice alerts.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566160" y="3319272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BFD8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30752" y="350215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6B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permission_handler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3730752" y="384962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1736C"/>
                </a:solidFill>
              </a:rPr>
              <a:t>Camera permission handling for Android/iOS.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00800" y="3319272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BFD8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65392" y="350215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6B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YOLOv8n-OIV7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565392" y="384962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1736C"/>
                </a:solidFill>
              </a:rPr>
              <a:t>Object detection model trained on Open Images labels.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235440" y="3319272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BFD8C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00032" y="350215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6B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Assets bundle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9400032" y="384962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1736C"/>
                </a:solidFill>
              </a:rPr>
              <a:t>Model and labels packaged for internet-free execution.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14400" y="54864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2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Core dependency idea: keep heavy AI computation local while keeping the user interface simple and accessible.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02920" y="64739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OpenWorld Blind AI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6B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2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Model and Dataset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1736C"/>
                </a:solidFill>
              </a:rPr>
              <a:t>YOLOv8n-OIV7 was used for lightweight, multi-class object detection.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49808" y="1481328"/>
            <a:ext cx="242316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BFD8CF"/>
            </a:solidFill>
            <a:prstDash val="solid"/>
          </a:ln>
          <a:effectLst>
            <a:outerShdw sx="100000" sy="100000" kx="0" ky="0" algn="bl" rotWithShape="0" blurRad="25400" dist="50800" dir="2700000">
              <a:srgbClr val="B6C9C1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645920"/>
            <a:ext cx="2093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6B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YOLOv8n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32688" y="2194560"/>
            <a:ext cx="20939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36C"/>
                </a:solidFill>
              </a:rPr>
              <a:t>Small model size suitable for mobile deployment.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74720" y="1481328"/>
            <a:ext cx="242316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BFD8CF"/>
            </a:solidFill>
            <a:prstDash val="solid"/>
          </a:ln>
          <a:effectLst>
            <a:outerShdw sx="100000" sy="100000" kx="0" ky="0" algn="bl" rotWithShape="0" blurRad="25400" dist="50800" dir="2700000">
              <a:srgbClr val="B6C9C1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39312" y="1645920"/>
            <a:ext cx="2093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AD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601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57600" y="2194560"/>
            <a:ext cx="20939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36C"/>
                </a:solidFill>
              </a:rPr>
              <a:t>Open Images object classes loaded from label file.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99632" y="1481328"/>
            <a:ext cx="242316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BFD8CF"/>
            </a:solidFill>
            <a:prstDash val="solid"/>
          </a:ln>
          <a:effectLst>
            <a:outerShdw sx="100000" sy="100000" kx="0" ky="0" algn="bl" rotWithShape="0" blurRad="25400" dist="50800" dir="2700000">
              <a:srgbClr val="B6C9C1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64224" y="1645920"/>
            <a:ext cx="2093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6CE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640 x 640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382512" y="2194560"/>
            <a:ext cx="20939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36C"/>
                </a:solidFill>
              </a:rPr>
              <a:t>Input tensor used by the exported ONNX model.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24544" y="1481328"/>
            <a:ext cx="242316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BFD8CF"/>
            </a:solidFill>
            <a:prstDash val="solid"/>
          </a:ln>
          <a:effectLst>
            <a:outerShdw sx="100000" sy="100000" kx="0" ky="0" algn="bl" rotWithShape="0" blurRad="25400" dist="50800" dir="2700000">
              <a:srgbClr val="B6C9C1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89136" y="1645920"/>
            <a:ext cx="2093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F3F3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Offline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107424" y="2194560"/>
            <a:ext cx="20939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36C"/>
                </a:solidFill>
              </a:rPr>
              <a:t>Runs locally through ONNX Runtime without cloud calls.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14400" y="3429000"/>
            <a:ext cx="10287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02A24"/>
                </a:solidFill>
              </a:rPr>
              <a:t>- Original model file: yolov8n-oiv7.pt.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02A24"/>
                </a:solidFill>
              </a:rPr>
              <a:t>- Converted to ONNX for mobile inference.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02A24"/>
                </a:solidFill>
              </a:rPr>
              <a:t>- The app reads the ONNX file from assets/models.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02A24"/>
                </a:solidFill>
              </a:rPr>
              <a:t>- Class names are mapped using open_images_v7_601.txt.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02A24"/>
                </a:solidFill>
              </a:rPr>
              <a:t>- Post-processing selects highest confidence classes and removes duplicates using NMS.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2920" y="64739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OpenWorld Blind AI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6B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2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Working Flow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1736C"/>
                </a:solidFill>
              </a:rPr>
              <a:t>From live camera frame to spoken assistance.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965960"/>
            <a:ext cx="960120" cy="960120"/>
          </a:xfrm>
          <a:prstGeom prst="ellipse">
            <a:avLst/>
          </a:prstGeom>
          <a:solidFill>
            <a:srgbClr val="006B5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220370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308152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2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Capture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554480" y="2450592"/>
            <a:ext cx="612648" cy="0"/>
          </a:xfrm>
          <a:prstGeom prst="line">
            <a:avLst/>
          </a:prstGeom>
          <a:noFill/>
          <a:ln w="22860">
            <a:solidFill>
              <a:srgbClr val="2FAD5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240280" y="1965960"/>
            <a:ext cx="960120" cy="960120"/>
          </a:xfrm>
          <a:prstGeom prst="ellipse">
            <a:avLst/>
          </a:prstGeom>
          <a:solidFill>
            <a:srgbClr val="006B5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40280" y="220370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011680" y="308152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2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Resize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00400" y="2450592"/>
            <a:ext cx="612648" cy="0"/>
          </a:xfrm>
          <a:prstGeom prst="line">
            <a:avLst/>
          </a:prstGeom>
          <a:noFill/>
          <a:ln w="22860">
            <a:solidFill>
              <a:srgbClr val="2FAD5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886200" y="1965960"/>
            <a:ext cx="960120" cy="960120"/>
          </a:xfrm>
          <a:prstGeom prst="ellipse">
            <a:avLst/>
          </a:prstGeom>
          <a:solidFill>
            <a:srgbClr val="006B5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86200" y="220370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0" y="308152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2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Normalize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846320" y="2450592"/>
            <a:ext cx="612648" cy="0"/>
          </a:xfrm>
          <a:prstGeom prst="line">
            <a:avLst/>
          </a:prstGeom>
          <a:noFill/>
          <a:ln w="22860">
            <a:solidFill>
              <a:srgbClr val="2FAD5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532120" y="1965960"/>
            <a:ext cx="960120" cy="960120"/>
          </a:xfrm>
          <a:prstGeom prst="ellipse">
            <a:avLst/>
          </a:prstGeom>
          <a:solidFill>
            <a:srgbClr val="EF3F3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32120" y="220370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303520" y="308152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2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Infer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92240" y="2450592"/>
            <a:ext cx="612648" cy="0"/>
          </a:xfrm>
          <a:prstGeom prst="line">
            <a:avLst/>
          </a:prstGeom>
          <a:noFill/>
          <a:ln w="22860">
            <a:solidFill>
              <a:srgbClr val="2FAD5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178040" y="1965960"/>
            <a:ext cx="960120" cy="960120"/>
          </a:xfrm>
          <a:prstGeom prst="ellipse">
            <a:avLst/>
          </a:prstGeom>
          <a:solidFill>
            <a:srgbClr val="006B5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78040" y="220370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949440" y="308152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2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Decode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138160" y="2450592"/>
            <a:ext cx="612648" cy="0"/>
          </a:xfrm>
          <a:prstGeom prst="line">
            <a:avLst/>
          </a:prstGeom>
          <a:noFill/>
          <a:ln w="22860">
            <a:solidFill>
              <a:srgbClr val="2FAD5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823960" y="1965960"/>
            <a:ext cx="960120" cy="960120"/>
          </a:xfrm>
          <a:prstGeom prst="ellipse">
            <a:avLst/>
          </a:prstGeom>
          <a:solidFill>
            <a:srgbClr val="006B5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23960" y="220370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595360" y="308152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2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Filter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9784080" y="2450592"/>
            <a:ext cx="612648" cy="0"/>
          </a:xfrm>
          <a:prstGeom prst="line">
            <a:avLst/>
          </a:prstGeom>
          <a:noFill/>
          <a:ln w="22860">
            <a:solidFill>
              <a:srgbClr val="2FAD5A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469880" y="1965960"/>
            <a:ext cx="960120" cy="960120"/>
          </a:xfrm>
          <a:prstGeom prst="ellipse">
            <a:avLst/>
          </a:prstGeom>
          <a:solidFill>
            <a:srgbClr val="006B5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469880" y="220370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7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0241280" y="308152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2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Speak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005840" y="4434840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6B5A"/>
                </a:solidFill>
              </a:rPr>
              <a:t>The detection loop is throttled so the phone does not process every camera frame. This reduces lag and keeps the interface responsive.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502920" y="64739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OpenWorld Blind AI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6B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2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Core Modules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1736C"/>
                </a:solidFill>
              </a:rPr>
              <a:t>The Flutter project is organized around reusable services and utilities.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4800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BFD8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" y="1527048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6B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main.dart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024128" y="180136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36C"/>
                </a:solidFill>
              </a:rPr>
              <a:t>UI, camera lifecycle, detection state, overlay painter.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22960" y="2788920"/>
            <a:ext cx="4800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BFD8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2944368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F3F3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YoloService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24128" y="321868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36C"/>
                </a:solidFill>
              </a:rPr>
              <a:t>Loads model, runs ONNX inference, decodes detections.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" y="4206240"/>
            <a:ext cx="4800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BFD8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4361688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6B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FramePreprocessor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24128" y="46360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36C"/>
                </a:solidFill>
              </a:rPr>
              <a:t>Converts camera frame into normalized tensor.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0" y="1371600"/>
            <a:ext cx="4800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BFD8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01968" y="1527048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6B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TtsService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601968" y="180136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36C"/>
                </a:solidFill>
              </a:rPr>
              <a:t>Speaks short alerts with cooldown and queue handling.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0" y="2788920"/>
            <a:ext cx="4800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BFD8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01968" y="2944368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6B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NMS utility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601968" y="321868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36C"/>
                </a:solidFill>
              </a:rPr>
              <a:t>Removes duplicate overlapping boxes.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0" y="4206240"/>
            <a:ext cx="4800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BFD8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01968" y="4361688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6B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Detection model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601968" y="46360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36C"/>
                </a:solidFill>
              </a:rPr>
              <a:t>Stores label, confidence, box, distance, and category.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143000" y="5715000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24"/>
                </a:solidFill>
              </a:rPr>
              <a:t>Separation of concerns makes it easier to tune detection, UI, and voice output independently.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2920" y="64739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OpenWorld Blind AI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6B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2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Detection Logic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1736C"/>
                </a:solidFill>
              </a:rPr>
              <a:t>The model output is converted into user-friendly object information.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22960" y="1572768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FD8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691640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2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Raw YOLO output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02A2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[boxes + class scores]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83280" y="1572768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E7F4EF"/>
          </a:solidFill>
          <a:ln w="12700">
            <a:solidFill>
              <a:srgbClr val="BFD8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93008" y="1691640"/>
            <a:ext cx="16093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B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Best class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6B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per anchor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0" y="1572768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FF7E6"/>
          </a:solidFill>
          <a:ln w="12700">
            <a:solidFill>
              <a:srgbClr val="FFD79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79008" y="1691640"/>
            <a:ext cx="16093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Confidence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threshold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55280" y="1572768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E7F4EF"/>
          </a:solidFill>
          <a:ln w="12700">
            <a:solidFill>
              <a:srgbClr val="BFD8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65008" y="1691640"/>
            <a:ext cx="16093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B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NMS removes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6B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duplicates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058400" y="1572768"/>
            <a:ext cx="1508760" cy="914400"/>
          </a:xfrm>
          <a:prstGeom prst="roundRect">
            <a:avLst>
              <a:gd name="adj" fmla="val 8000"/>
            </a:avLst>
          </a:prstGeom>
          <a:solidFill>
            <a:srgbClr val="FFE6E3"/>
          </a:solidFill>
          <a:ln w="12700">
            <a:solidFill>
              <a:srgbClr val="F6B1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168128" y="1691640"/>
            <a:ext cx="12893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3F3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Final alert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F3F3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label + position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926080" y="2029968"/>
            <a:ext cx="411480" cy="0"/>
          </a:xfrm>
          <a:prstGeom prst="line">
            <a:avLst/>
          </a:prstGeom>
          <a:noFill/>
          <a:ln w="22860">
            <a:solidFill>
              <a:srgbClr val="006B5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212080" y="2029968"/>
            <a:ext cx="411480" cy="0"/>
          </a:xfrm>
          <a:prstGeom prst="line">
            <a:avLst/>
          </a:prstGeom>
          <a:noFill/>
          <a:ln w="22860">
            <a:solidFill>
              <a:srgbClr val="006B5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498080" y="2029968"/>
            <a:ext cx="411480" cy="0"/>
          </a:xfrm>
          <a:prstGeom prst="line">
            <a:avLst/>
          </a:prstGeom>
          <a:noFill/>
          <a:ln w="22860">
            <a:solidFill>
              <a:srgbClr val="006B5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784080" y="2029968"/>
            <a:ext cx="228600" cy="0"/>
          </a:xfrm>
          <a:prstGeom prst="line">
            <a:avLst/>
          </a:prstGeom>
          <a:noFill/>
          <a:ln w="22860">
            <a:solidFill>
              <a:srgbClr val="006B5A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914400" y="3657600"/>
            <a:ext cx="102412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02A24"/>
                </a:solidFill>
              </a:rPr>
              <a:t>- Confidence score decides whether an object is trusted enough to display.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02A24"/>
                </a:solidFill>
              </a:rPr>
              <a:t>- Intersection-over-Union is used by NMS to suppress duplicate boxes.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02A24"/>
                </a:solidFill>
              </a:rPr>
              <a:t>- Bounding box size estimates approximate distance: very close, close, medium, or far.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02A24"/>
                </a:solidFill>
              </a:rPr>
              <a:t>- Horizontal center gives a position label: left, center, or right.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02A24"/>
                </a:solidFill>
              </a:rPr>
              <a:t>- Critical object labels can be styled in red for safety visibility.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OpenWorld Blind AI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6B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2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Accessible User Interface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1736C"/>
                </a:solidFill>
              </a:rPr>
              <a:t>The UI is designed for quick action and low visual complexity.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22960" y="1143000"/>
            <a:ext cx="2240280" cy="4434840"/>
          </a:xfrm>
          <a:prstGeom prst="roundRect">
            <a:avLst>
              <a:gd name="adj" fmla="val 8163"/>
            </a:avLst>
          </a:prstGeom>
          <a:solidFill>
            <a:srgbClr val="121915"/>
          </a:solidFill>
          <a:ln w="12700">
            <a:solidFill>
              <a:srgbClr val="10101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1307592"/>
            <a:ext cx="2020824" cy="4105656"/>
          </a:xfrm>
          <a:prstGeom prst="roundRect">
            <a:avLst>
              <a:gd name="adj" fmla="val 7240"/>
            </a:avLst>
          </a:prstGeom>
          <a:solidFill>
            <a:srgbClr val="ECF7F2"/>
          </a:solidFill>
          <a:ln w="12700">
            <a:solidFill>
              <a:srgbClr val="ECF7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1655064"/>
            <a:ext cx="1600200" cy="676656"/>
          </a:xfrm>
          <a:prstGeom prst="roundRect">
            <a:avLst>
              <a:gd name="adj" fmla="val 10811"/>
            </a:avLst>
          </a:prstGeom>
          <a:solidFill>
            <a:srgbClr val="EF3F36"/>
          </a:solidFill>
          <a:ln w="12700">
            <a:solidFill>
              <a:srgbClr val="EF3F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865376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STOP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43000" y="25603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FAD5A"/>
                </a:solidFill>
              </a:rPr>
              <a:t>Detecting 2 objects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143000" y="2898648"/>
            <a:ext cx="1600200" cy="2057400"/>
          </a:xfrm>
          <a:prstGeom prst="roundRect">
            <a:avLst>
              <a:gd name="adj" fmla="val 4571"/>
            </a:avLst>
          </a:prstGeom>
          <a:solidFill>
            <a:srgbClr val="DCE8E0"/>
          </a:solidFill>
          <a:ln w="12700">
            <a:solidFill>
              <a:srgbClr val="DCE8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17904" y="3200400"/>
            <a:ext cx="1051560" cy="1298448"/>
          </a:xfrm>
          <a:prstGeom prst="rect">
            <a:avLst/>
          </a:prstGeom>
          <a:solidFill>
            <a:srgbClr val="DCE8E0">
              <a:alpha val="0"/>
            </a:srgbClr>
          </a:solidFill>
          <a:ln w="25400">
            <a:solidFill>
              <a:srgbClr val="69E7A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44752" y="3017520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EF3F36"/>
          </a:solidFill>
          <a:ln w="12700">
            <a:solidFill>
              <a:srgbClr val="EF3F3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4480" y="3090672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person 78% center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816352" y="3657600"/>
            <a:ext cx="594360" cy="777240"/>
          </a:xfrm>
          <a:prstGeom prst="rect">
            <a:avLst/>
          </a:prstGeom>
          <a:solidFill>
            <a:srgbClr val="DCE8E0">
              <a:alpha val="0"/>
            </a:srgbClr>
          </a:solidFill>
          <a:ln w="25400">
            <a:solidFill>
              <a:srgbClr val="69E7A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97480" y="3474720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2FAD5A"/>
          </a:solidFill>
          <a:ln w="12700">
            <a:solidFill>
              <a:srgbClr val="2FAD5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07208" y="3547872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bottle 72%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86200" y="1508760"/>
            <a:ext cx="6903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02A24"/>
                </a:solidFill>
              </a:rPr>
              <a:t>- Large START/STOP button makes the main action easy to find.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02A24"/>
                </a:solidFill>
              </a:rPr>
              <a:t>- Status text shows whether the app is detecting objects.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02A24"/>
                </a:solidFill>
              </a:rPr>
              <a:t>- Camera preview occupies the main screen area.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02A24"/>
                </a:solidFill>
              </a:rPr>
              <a:t>- Green boxes identify normal objects; red boxes identify critical objects.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02A24"/>
                </a:solidFill>
              </a:rPr>
              <a:t>- Settings/emergency controls were simplified to reduce confusion.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886200" y="4709160"/>
            <a:ext cx="6995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06B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Design rule: the phone should feel like an assistive device first, not like a complex AI dashboard.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OpenWorld Blind AI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6B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2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Voice Alert Strategy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1736C"/>
                </a:solidFill>
              </a:rPr>
              <a:t>Spoken feedback is the most important output for the target user.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68680" y="1417320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6B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"person center, close"  |  "bottle left, far"  |  "chair right, medium"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" y="2514600"/>
            <a:ext cx="23317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BFD8CF"/>
            </a:solidFill>
            <a:prstDash val="solid"/>
          </a:ln>
          <a:effectLst>
            <a:outerShdw sx="100000" sy="100000" kx="0" ky="0" algn="bl" rotWithShape="0" blurRad="25400" dist="50800" dir="2700000">
              <a:srgbClr val="B6C9C1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87552" y="2679192"/>
            <a:ext cx="2002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AD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Object name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05840" y="3227832"/>
            <a:ext cx="200253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36C"/>
                </a:solidFill>
              </a:rPr>
              <a:t>Directly tells what is detected.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11880" y="2514600"/>
            <a:ext cx="23317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BFD8CF"/>
            </a:solidFill>
            <a:prstDash val="solid"/>
          </a:ln>
          <a:effectLst>
            <a:outerShdw sx="100000" sy="100000" kx="0" ky="0" algn="bl" rotWithShape="0" blurRad="25400" dist="50800" dir="2700000">
              <a:srgbClr val="B6C9C1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76472" y="2679192"/>
            <a:ext cx="2002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AD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Position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794760" y="3227832"/>
            <a:ext cx="200253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36C"/>
                </a:solidFill>
              </a:rPr>
              <a:t>Left, center, or right helps orientation.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0" y="2514600"/>
            <a:ext cx="23317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BFD8CF"/>
            </a:solidFill>
            <a:prstDash val="solid"/>
          </a:ln>
          <a:effectLst>
            <a:outerShdw sx="100000" sy="100000" kx="0" ky="0" algn="bl" rotWithShape="0" blurRad="25400" dist="50800" dir="2700000">
              <a:srgbClr val="B6C9C1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65392" y="2679192"/>
            <a:ext cx="2002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AD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Distance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583680" y="3227832"/>
            <a:ext cx="200253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36C"/>
                </a:solidFill>
              </a:rPr>
              <a:t>Very close, close, medium, or far.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189720" y="2514600"/>
            <a:ext cx="23317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BFD8CF"/>
            </a:solidFill>
            <a:prstDash val="solid"/>
          </a:ln>
          <a:effectLst>
            <a:outerShdw sx="100000" sy="100000" kx="0" ky="0" algn="bl" rotWithShape="0" blurRad="25400" dist="50800" dir="2700000">
              <a:srgbClr val="B6C9C1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354312" y="2679192"/>
            <a:ext cx="2002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Cooldown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372600" y="3227832"/>
            <a:ext cx="200253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36C"/>
                </a:solidFill>
              </a:rPr>
              <a:t>Avoids repeating the same object too often.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14400" y="523036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1736C"/>
                </a:solidFill>
              </a:rPr>
              <a:t>The TTS engine works offline on Android when a local voice package is available.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OpenWorld Blind AI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6B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2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Implementation Challenges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1736C"/>
                </a:solidFill>
              </a:rPr>
              <a:t>The project required practical debugging across model export, Android build, and runtime performance.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135331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F3F3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ONNX opset support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31520" y="1700784"/>
            <a:ext cx="4389120" cy="0"/>
          </a:xfrm>
          <a:prstGeom prst="line">
            <a:avLst/>
          </a:prstGeom>
          <a:noFill/>
          <a:ln w="12700">
            <a:solidFill>
              <a:srgbClr val="BFD8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288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36C"/>
                </a:solidFill>
              </a:rPr>
              <a:t>Original export used a newer opset; mobile runtime required compatible opset export.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263640" y="135331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F3F3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Runtime input type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63640" y="1700784"/>
            <a:ext cx="4389120" cy="0"/>
          </a:xfrm>
          <a:prstGeom prst="line">
            <a:avLst/>
          </a:prstGeom>
          <a:noFill/>
          <a:ln w="12700">
            <a:solidFill>
              <a:srgbClr val="BFD8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63640" y="18288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36C"/>
                </a:solidFill>
              </a:rPr>
              <a:t>ONNX expected tensor(float), so input was changed to Float32List instead of double.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83464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6B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Camera lifecycle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31520" y="3182112"/>
            <a:ext cx="4389120" cy="0"/>
          </a:xfrm>
          <a:prstGeom prst="line">
            <a:avLst/>
          </a:prstGeom>
          <a:noFill/>
          <a:ln w="12700">
            <a:solidFill>
              <a:srgbClr val="BFD8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310128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36C"/>
                </a:solidFill>
              </a:rPr>
              <a:t>Disposed controller caused preview crashes; lifecycle checks were added.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263640" y="283464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6B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OneDrive locks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263640" y="3182112"/>
            <a:ext cx="4389120" cy="0"/>
          </a:xfrm>
          <a:prstGeom prst="line">
            <a:avLst/>
          </a:prstGeom>
          <a:noFill/>
          <a:ln w="12700">
            <a:solidFill>
              <a:srgbClr val="BFD8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3310128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36C"/>
                </a:solidFill>
              </a:rPr>
              <a:t>Build files were locked by sync, so project was moved to a normal dev folder.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31520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6B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False detections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31520" y="4663440"/>
            <a:ext cx="4389120" cy="0"/>
          </a:xfrm>
          <a:prstGeom prst="line">
            <a:avLst/>
          </a:prstGeom>
          <a:noFill/>
          <a:ln w="12700">
            <a:solidFill>
              <a:srgbClr val="BFD8C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791456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36C"/>
                </a:solidFill>
              </a:rPr>
              <a:t>Thresholds, NMS, label mapping, and filtering were tuned repeatedly.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63640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6B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Lag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263640" y="4663440"/>
            <a:ext cx="4389120" cy="0"/>
          </a:xfrm>
          <a:prstGeom prst="line">
            <a:avLst/>
          </a:prstGeom>
          <a:noFill/>
          <a:ln w="12700">
            <a:solidFill>
              <a:srgbClr val="BFD8C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4791456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36C"/>
                </a:solidFill>
              </a:rPr>
              <a:t>Frame throttling and reduced UI work were used to reduce dropped buffers.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OpenWorld Blind AI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6B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2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Testing and Observations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1736C"/>
                </a:solidFill>
              </a:rPr>
              <a:t>Testing focused on real phone behavior, not only desktop model output.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25603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BFD8CF"/>
            </a:solidFill>
            <a:prstDash val="solid"/>
          </a:ln>
          <a:effectLst>
            <a:outerShdw sx="100000" sy="100000" kx="0" ky="0" algn="bl" rotWithShape="0" blurRad="25400" dist="50800" dir="2700000">
              <a:srgbClr val="B6C9C1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1490472"/>
            <a:ext cx="2231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AD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Camera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2039112"/>
            <a:ext cx="223113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36C"/>
                </a:solidFill>
              </a:rPr>
              <a:t>The app successfully opens the camera preview and processes frames.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11880" y="1325880"/>
            <a:ext cx="25603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BFD8CF"/>
            </a:solidFill>
            <a:prstDash val="solid"/>
          </a:ln>
          <a:effectLst>
            <a:outerShdw sx="100000" sy="100000" kx="0" ky="0" algn="bl" rotWithShape="0" blurRad="25400" dist="50800" dir="2700000">
              <a:srgbClr val="B6C9C1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776472" y="1490472"/>
            <a:ext cx="2231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6B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Offline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794760" y="2039112"/>
            <a:ext cx="223113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36C"/>
                </a:solidFill>
              </a:rPr>
              <a:t>Model loads from bundled assets and runs offline on mobile.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92240" y="1325880"/>
            <a:ext cx="25603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BFD8CF"/>
            </a:solidFill>
            <a:prstDash val="solid"/>
          </a:ln>
          <a:effectLst>
            <a:outerShdw sx="100000" sy="100000" kx="0" ky="0" algn="bl" rotWithShape="0" blurRad="25400" dist="50800" dir="2700000">
              <a:srgbClr val="B6C9C1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56832" y="1490472"/>
            <a:ext cx="2231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6CE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Voice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675120" y="2039112"/>
            <a:ext cx="223113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36C"/>
                </a:solidFill>
              </a:rPr>
              <a:t>TTS engine connects and can speak alerts after detection.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372600" y="1325880"/>
            <a:ext cx="20574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BFD8CF"/>
            </a:solidFill>
            <a:prstDash val="solid"/>
          </a:ln>
          <a:effectLst>
            <a:outerShdw sx="100000" sy="100000" kx="0" ky="0" algn="bl" rotWithShape="0" blurRad="25400" dist="50800" dir="2700000">
              <a:srgbClr val="B6C9C1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537192" y="1490472"/>
            <a:ext cx="1728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Limits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555480" y="2039112"/>
            <a:ext cx="172821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36C"/>
                </a:solidFill>
              </a:rPr>
              <a:t>Open Images labels may create unexpected detections for small objects.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14400" y="3566160"/>
            <a:ext cx="10287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02A24"/>
                </a:solidFill>
              </a:rPr>
              <a:t>- Tested with person, phone, bottle, laptop, toothbrush, and indoor objects.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02A24"/>
                </a:solidFill>
              </a:rPr>
              <a:t>- Detection quality depends strongly on lighting, focus, object size, and training labels.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02A24"/>
                </a:solidFill>
              </a:rPr>
              <a:t>- Small or unusual objects can be missed because the lightweight model has limited accuracy.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02A24"/>
                </a:solidFill>
              </a:rPr>
              <a:t>- Better results can be achieved with custom fine-tuning on target daily-use objects.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2920" y="64739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OpenWorld Blind AI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6B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2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Applications and Benefits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1736C"/>
                </a:solidFill>
              </a:rPr>
              <a:t>The system supports safer awareness in everyday spaces.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937760" y="1408176"/>
            <a:ext cx="22860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BFD8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47488" y="1527048"/>
            <a:ext cx="2066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B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Indoor navigation support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590604" y="2253996"/>
            <a:ext cx="2286000" cy="658368"/>
          </a:xfrm>
          <a:prstGeom prst="roundRect">
            <a:avLst>
              <a:gd name="adj" fmla="val 11111"/>
            </a:avLst>
          </a:prstGeom>
          <a:solidFill>
            <a:srgbClr val="E7F4EF"/>
          </a:solidFill>
          <a:ln w="12700">
            <a:solidFill>
              <a:srgbClr val="BFD8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00332" y="2372868"/>
            <a:ext cx="2066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A2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Object finding assistance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590604" y="3945636"/>
            <a:ext cx="22860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BFD8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00332" y="4064508"/>
            <a:ext cx="2066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B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Obstacle awareness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37760" y="4791456"/>
            <a:ext cx="2286000" cy="658368"/>
          </a:xfrm>
          <a:prstGeom prst="roundRect">
            <a:avLst>
              <a:gd name="adj" fmla="val 11111"/>
            </a:avLst>
          </a:prstGeom>
          <a:solidFill>
            <a:srgbClr val="E7F4EF"/>
          </a:solidFill>
          <a:ln w="12700">
            <a:solidFill>
              <a:srgbClr val="BFD8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47488" y="4910328"/>
            <a:ext cx="2066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A2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Learning aid for assistive AI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4916" y="3945636"/>
            <a:ext cx="22860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BFD8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94644" y="4064508"/>
            <a:ext cx="2066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B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Low-cost accessibility prototype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4916" y="2253996"/>
            <a:ext cx="2286000" cy="658368"/>
          </a:xfrm>
          <a:prstGeom prst="roundRect">
            <a:avLst>
              <a:gd name="adj" fmla="val 11111"/>
            </a:avLst>
          </a:prstGeom>
          <a:solidFill>
            <a:srgbClr val="E7F4EF"/>
          </a:solidFill>
          <a:ln w="12700">
            <a:solidFill>
              <a:srgbClr val="BFD8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94644" y="2372868"/>
            <a:ext cx="2066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A2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Offline support in low-connectivity areas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92040" y="2423160"/>
            <a:ext cx="2377440" cy="1828800"/>
          </a:xfrm>
          <a:prstGeom prst="ellipse">
            <a:avLst/>
          </a:prstGeom>
          <a:solidFill>
            <a:srgbClr val="006B5A"/>
          </a:solidFill>
          <a:ln w="12700">
            <a:solidFill>
              <a:srgbClr val="006B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66360" y="2889504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Assistive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Awareness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OpenWorld Blind AI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6B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2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Future Scope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1736C"/>
                </a:solidFill>
              </a:rPr>
              <a:t>Next improvements can make the system more accurate, faster, and more useful.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41248" y="1371600"/>
            <a:ext cx="320040" cy="320040"/>
          </a:xfrm>
          <a:prstGeom prst="ellipse">
            <a:avLst/>
          </a:prstGeom>
          <a:solidFill>
            <a:srgbClr val="EF3F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25880" y="13258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A2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Custom training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3703320" y="129844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1736C"/>
                </a:solidFill>
              </a:rPr>
              <a:t>Fine-tune on daily objects such as phone, bottle, chair, laptop, toothbrush, knife, and vehicle classes.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996696" y="1709928"/>
            <a:ext cx="0" cy="530352"/>
          </a:xfrm>
          <a:prstGeom prst="line">
            <a:avLst/>
          </a:prstGeom>
          <a:noFill/>
          <a:ln w="20320">
            <a:solidFill>
              <a:srgbClr val="BFD8C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2286000"/>
            <a:ext cx="320040" cy="320040"/>
          </a:xfrm>
          <a:prstGeom prst="ellipse">
            <a:avLst/>
          </a:prstGeom>
          <a:solidFill>
            <a:srgbClr val="2FAD5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25880" y="22402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A2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Better model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703320" y="221284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1736C"/>
                </a:solidFill>
              </a:rPr>
              <a:t>Use newer mobile-friendly detection models or quantized ONNX/TFLite versions.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996696" y="2624328"/>
            <a:ext cx="0" cy="530352"/>
          </a:xfrm>
          <a:prstGeom prst="line">
            <a:avLst/>
          </a:prstGeom>
          <a:noFill/>
          <a:ln w="20320">
            <a:solidFill>
              <a:srgbClr val="BFD8C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" y="3200400"/>
            <a:ext cx="320040" cy="320040"/>
          </a:xfrm>
          <a:prstGeom prst="ellipse">
            <a:avLst/>
          </a:prstGeom>
          <a:solidFill>
            <a:srgbClr val="2FAD5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25880" y="31546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A2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Depth support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703320" y="312724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1736C"/>
                </a:solidFill>
              </a:rPr>
              <a:t>Improve distance estimation using stereo/depth sensors where available.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996696" y="3538728"/>
            <a:ext cx="0" cy="530352"/>
          </a:xfrm>
          <a:prstGeom prst="line">
            <a:avLst/>
          </a:prstGeom>
          <a:noFill/>
          <a:ln w="20320">
            <a:solidFill>
              <a:srgbClr val="BFD8C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" y="4114800"/>
            <a:ext cx="320040" cy="320040"/>
          </a:xfrm>
          <a:prstGeom prst="ellipse">
            <a:avLst/>
          </a:prstGeom>
          <a:solidFill>
            <a:srgbClr val="2FAD5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25880" y="40690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A2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Navigation mode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3703320" y="404164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1736C"/>
                </a:solidFill>
              </a:rPr>
              <a:t>Add path guidance, obstacle priority, and vibration feedback.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996696" y="4453128"/>
            <a:ext cx="0" cy="530352"/>
          </a:xfrm>
          <a:prstGeom prst="line">
            <a:avLst/>
          </a:prstGeom>
          <a:noFill/>
          <a:ln w="20320">
            <a:solidFill>
              <a:srgbClr val="BFD8C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1248" y="5029200"/>
            <a:ext cx="320040" cy="320040"/>
          </a:xfrm>
          <a:prstGeom prst="ellipse">
            <a:avLst/>
          </a:prstGeom>
          <a:solidFill>
            <a:srgbClr val="2FAD5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25880" y="49834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A2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User profiles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3703320" y="495604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1736C"/>
                </a:solidFill>
              </a:rPr>
              <a:t>Allow adjustable speech speed, sensitivity, and preferred object categories.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502920" y="64739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OpenWorld Blind AI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6B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B5A"/>
          </a:solidFill>
          <a:ln w="12700">
            <a:solidFill>
              <a:srgbClr val="006B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-1097280"/>
            <a:ext cx="8046720" cy="8686800"/>
          </a:xfrm>
          <a:prstGeom prst="arc">
            <a:avLst/>
          </a:prstGeom>
          <a:noFill/>
          <a:ln w="38100">
            <a:solidFill>
              <a:srgbClr val="2FAD5A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772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68680" y="1874520"/>
            <a:ext cx="9966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OpenWorld Blind AI demonstrates how offline computer vision can become a practical assistive layer on a normal smartphone.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96112" y="3703320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7F4E6"/>
                </a:solidFill>
              </a:rPr>
              <a:t>The project combines Flutter, camera streaming, YOLOv8 ONNX inference, post-processing, and text-to-speech to provide spoken object awareness without internet dependency.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96112" y="528523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96112" y="571500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7F4E6"/>
                </a:solidFill>
              </a:rPr>
              <a:t>N.Sharath Kumar - 23261A6634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7F4E6"/>
                </a:solidFill>
              </a:rPr>
              <a:t>Sanne Rohith - 23261A6645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Bahnschrif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Department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OpenWorld Blind AI</dc:title>
  <dc:subject>AI-based offline object detection system for visually impaired people</dc:subject>
  <dc:creator>OpenWorld Blind AI Team</dc:creator>
  <cp:lastModifiedBy>OpenWorld Blind AI Team</cp:lastModifiedBy>
  <cp:revision>1</cp:revision>
  <dcterms:created xsi:type="dcterms:W3CDTF">2026-06-07T13:12:17Z</dcterms:created>
  <dcterms:modified xsi:type="dcterms:W3CDTF">2026-06-07T13:12:17Z</dcterms:modified>
</cp:coreProperties>
</file>